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 Italics" charset="1" panose="020B0803030501040103"/>
      <p:regular r:id="rId18"/>
    </p:embeddedFont>
    <p:embeddedFont>
      <p:font typeface="Canva Sans Bold" charset="1" panose="020B0803030501040103"/>
      <p:regular r:id="rId19"/>
    </p:embeddedFont>
    <p:embeddedFont>
      <p:font typeface="Canva Sans Medium" charset="1" panose="020B0603030501040103"/>
      <p:regular r:id="rId20"/>
    </p:embeddedFont>
    <p:embeddedFont>
      <p:font typeface="Canva Sans Italics" charset="1" panose="020B0503030501040103"/>
      <p:regular r:id="rId21"/>
    </p:embeddedFont>
    <p:embeddedFont>
      <p:font typeface="Montserrat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7801" y="2238500"/>
            <a:ext cx="4785328" cy="5810001"/>
          </a:xfrm>
          <a:custGeom>
            <a:avLst/>
            <a:gdLst/>
            <a:ahLst/>
            <a:cxnLst/>
            <a:rect r="r" b="b" t="t" l="l"/>
            <a:pathLst>
              <a:path h="5810001" w="4785328">
                <a:moveTo>
                  <a:pt x="0" y="0"/>
                </a:moveTo>
                <a:lnTo>
                  <a:pt x="4785328" y="0"/>
                </a:lnTo>
                <a:lnTo>
                  <a:pt x="4785328" y="5810000"/>
                </a:lnTo>
                <a:lnTo>
                  <a:pt x="0" y="5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9460" y="2238500"/>
            <a:ext cx="864140" cy="864140"/>
          </a:xfrm>
          <a:custGeom>
            <a:avLst/>
            <a:gdLst/>
            <a:ahLst/>
            <a:cxnLst/>
            <a:rect r="r" b="b" t="t" l="l"/>
            <a:pathLst>
              <a:path h="864140" w="864140">
                <a:moveTo>
                  <a:pt x="0" y="0"/>
                </a:moveTo>
                <a:lnTo>
                  <a:pt x="864140" y="0"/>
                </a:lnTo>
                <a:lnTo>
                  <a:pt x="864140" y="864140"/>
                </a:lnTo>
                <a:lnTo>
                  <a:pt x="0" y="864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2440" y="3157718"/>
            <a:ext cx="9973072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Kitchen Opportunity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2440" y="8399200"/>
            <a:ext cx="8319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440" y="8841160"/>
            <a:ext cx="83197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Olasunkanmi-Ojo Mariam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2440" y="5412090"/>
            <a:ext cx="99226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analysis to identify high demand cuisines and profitable areas for a new cloud kitchen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7642" y="3766047"/>
            <a:ext cx="31919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i="true">
                <a:solidFill>
                  <a:srgbClr val="1B1B1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Using</a:t>
            </a:r>
            <a:r>
              <a:rPr lang="en-US" b="true" sz="1899" i="true">
                <a:solidFill>
                  <a:srgbClr val="1B1B1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Swiggy market data,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525" y="2582092"/>
            <a:ext cx="2789039" cy="3098116"/>
            <a:chOff x="0" y="0"/>
            <a:chExt cx="837317" cy="930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7317" cy="930108"/>
            </a:xfrm>
            <a:custGeom>
              <a:avLst/>
              <a:gdLst/>
              <a:ahLst/>
              <a:cxnLst/>
              <a:rect r="r" b="b" t="t" l="l"/>
              <a:pathLst>
                <a:path h="930108" w="837317">
                  <a:moveTo>
                    <a:pt x="0" y="0"/>
                  </a:moveTo>
                  <a:lnTo>
                    <a:pt x="837317" y="0"/>
                  </a:lnTo>
                  <a:lnTo>
                    <a:pt x="837317" y="930108"/>
                  </a:lnTo>
                  <a:lnTo>
                    <a:pt x="0" y="930108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37317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48775" y="2876795"/>
            <a:ext cx="2465209" cy="2504483"/>
            <a:chOff x="0" y="0"/>
            <a:chExt cx="582288" cy="591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2288" cy="591565"/>
            </a:xfrm>
            <a:custGeom>
              <a:avLst/>
              <a:gdLst/>
              <a:ahLst/>
              <a:cxnLst/>
              <a:rect r="r" b="b" t="t" l="l"/>
              <a:pathLst>
                <a:path h="591565" w="582288">
                  <a:moveTo>
                    <a:pt x="582288" y="0"/>
                  </a:moveTo>
                  <a:lnTo>
                    <a:pt x="582288" y="477265"/>
                  </a:lnTo>
                  <a:lnTo>
                    <a:pt x="291144" y="591565"/>
                  </a:lnTo>
                  <a:lnTo>
                    <a:pt x="0" y="477265"/>
                  </a:lnTo>
                  <a:lnTo>
                    <a:pt x="0" y="0"/>
                  </a:lnTo>
                  <a:lnTo>
                    <a:pt x="582288" y="0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82288" cy="51536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912" y="1984886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1CABB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50089" y="2475284"/>
            <a:ext cx="662581" cy="662581"/>
          </a:xfrm>
          <a:custGeom>
            <a:avLst/>
            <a:gdLst/>
            <a:ahLst/>
            <a:cxnLst/>
            <a:rect r="r" b="b" t="t" l="l"/>
            <a:pathLst>
              <a:path h="662581" w="662581">
                <a:moveTo>
                  <a:pt x="0" y="0"/>
                </a:moveTo>
                <a:lnTo>
                  <a:pt x="662581" y="0"/>
                </a:lnTo>
                <a:lnTo>
                  <a:pt x="662581" y="662581"/>
                </a:lnTo>
                <a:lnTo>
                  <a:pt x="0" y="662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243415" y="2591088"/>
            <a:ext cx="2789039" cy="3098116"/>
            <a:chOff x="0" y="0"/>
            <a:chExt cx="837317" cy="9301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7317" cy="930108"/>
            </a:xfrm>
            <a:custGeom>
              <a:avLst/>
              <a:gdLst/>
              <a:ahLst/>
              <a:cxnLst/>
              <a:rect r="r" b="b" t="t" l="l"/>
              <a:pathLst>
                <a:path h="930108" w="837317">
                  <a:moveTo>
                    <a:pt x="0" y="0"/>
                  </a:moveTo>
                  <a:lnTo>
                    <a:pt x="837317" y="0"/>
                  </a:lnTo>
                  <a:lnTo>
                    <a:pt x="837317" y="930108"/>
                  </a:lnTo>
                  <a:lnTo>
                    <a:pt x="0" y="930108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37317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4420665" y="2885791"/>
            <a:ext cx="2465209" cy="2504483"/>
            <a:chOff x="0" y="0"/>
            <a:chExt cx="582288" cy="5915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2288" cy="591565"/>
            </a:xfrm>
            <a:custGeom>
              <a:avLst/>
              <a:gdLst/>
              <a:ahLst/>
              <a:cxnLst/>
              <a:rect r="r" b="b" t="t" l="l"/>
              <a:pathLst>
                <a:path h="591565" w="582288">
                  <a:moveTo>
                    <a:pt x="582288" y="0"/>
                  </a:moveTo>
                  <a:lnTo>
                    <a:pt x="582288" y="477265"/>
                  </a:lnTo>
                  <a:lnTo>
                    <a:pt x="291144" y="591565"/>
                  </a:lnTo>
                  <a:lnTo>
                    <a:pt x="0" y="477265"/>
                  </a:lnTo>
                  <a:lnTo>
                    <a:pt x="0" y="0"/>
                  </a:lnTo>
                  <a:lnTo>
                    <a:pt x="582288" y="0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2288" cy="51536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24802" y="1993882"/>
            <a:ext cx="1672189" cy="167218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1CABB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369509" y="2446471"/>
            <a:ext cx="691394" cy="691394"/>
          </a:xfrm>
          <a:custGeom>
            <a:avLst/>
            <a:gdLst/>
            <a:ahLst/>
            <a:cxnLst/>
            <a:rect r="r" b="b" t="t" l="l"/>
            <a:pathLst>
              <a:path h="691394" w="691394">
                <a:moveTo>
                  <a:pt x="0" y="0"/>
                </a:moveTo>
                <a:lnTo>
                  <a:pt x="691394" y="0"/>
                </a:lnTo>
                <a:lnTo>
                  <a:pt x="691394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861128" y="2591088"/>
            <a:ext cx="2789039" cy="3098116"/>
            <a:chOff x="0" y="0"/>
            <a:chExt cx="837317" cy="9301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7317" cy="930108"/>
            </a:xfrm>
            <a:custGeom>
              <a:avLst/>
              <a:gdLst/>
              <a:ahLst/>
              <a:cxnLst/>
              <a:rect r="r" b="b" t="t" l="l"/>
              <a:pathLst>
                <a:path h="930108" w="837317">
                  <a:moveTo>
                    <a:pt x="0" y="0"/>
                  </a:moveTo>
                  <a:lnTo>
                    <a:pt x="837317" y="0"/>
                  </a:lnTo>
                  <a:lnTo>
                    <a:pt x="837317" y="930108"/>
                  </a:lnTo>
                  <a:lnTo>
                    <a:pt x="0" y="930108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37317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8038378" y="2885791"/>
            <a:ext cx="2465209" cy="2504483"/>
            <a:chOff x="0" y="0"/>
            <a:chExt cx="582288" cy="5915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2288" cy="591565"/>
            </a:xfrm>
            <a:custGeom>
              <a:avLst/>
              <a:gdLst/>
              <a:ahLst/>
              <a:cxnLst/>
              <a:rect r="r" b="b" t="t" l="l"/>
              <a:pathLst>
                <a:path h="591565" w="582288">
                  <a:moveTo>
                    <a:pt x="582288" y="0"/>
                  </a:moveTo>
                  <a:lnTo>
                    <a:pt x="582288" y="477265"/>
                  </a:lnTo>
                  <a:lnTo>
                    <a:pt x="291144" y="591565"/>
                  </a:lnTo>
                  <a:lnTo>
                    <a:pt x="0" y="477265"/>
                  </a:lnTo>
                  <a:lnTo>
                    <a:pt x="0" y="0"/>
                  </a:lnTo>
                  <a:lnTo>
                    <a:pt x="582288" y="0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82288" cy="51536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442515" y="1993882"/>
            <a:ext cx="1672189" cy="167218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1CABB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78842" y="2591088"/>
            <a:ext cx="2789039" cy="3098116"/>
            <a:chOff x="0" y="0"/>
            <a:chExt cx="837317" cy="9301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7317" cy="930108"/>
            </a:xfrm>
            <a:custGeom>
              <a:avLst/>
              <a:gdLst/>
              <a:ahLst/>
              <a:cxnLst/>
              <a:rect r="r" b="b" t="t" l="l"/>
              <a:pathLst>
                <a:path h="930108" w="837317">
                  <a:moveTo>
                    <a:pt x="0" y="0"/>
                  </a:moveTo>
                  <a:lnTo>
                    <a:pt x="837317" y="0"/>
                  </a:lnTo>
                  <a:lnTo>
                    <a:pt x="837317" y="930108"/>
                  </a:lnTo>
                  <a:lnTo>
                    <a:pt x="0" y="930108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37317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11656092" y="2885791"/>
            <a:ext cx="2465209" cy="2504483"/>
            <a:chOff x="0" y="0"/>
            <a:chExt cx="582288" cy="5915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2288" cy="591565"/>
            </a:xfrm>
            <a:custGeom>
              <a:avLst/>
              <a:gdLst/>
              <a:ahLst/>
              <a:cxnLst/>
              <a:rect r="r" b="b" t="t" l="l"/>
              <a:pathLst>
                <a:path h="591565" w="582288">
                  <a:moveTo>
                    <a:pt x="582288" y="0"/>
                  </a:moveTo>
                  <a:lnTo>
                    <a:pt x="582288" y="477265"/>
                  </a:lnTo>
                  <a:lnTo>
                    <a:pt x="291144" y="591565"/>
                  </a:lnTo>
                  <a:lnTo>
                    <a:pt x="0" y="477265"/>
                  </a:lnTo>
                  <a:lnTo>
                    <a:pt x="0" y="0"/>
                  </a:lnTo>
                  <a:lnTo>
                    <a:pt x="582288" y="0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82288" cy="51536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60229" y="1993882"/>
            <a:ext cx="1672189" cy="1672189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1CABB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953680" y="2591088"/>
            <a:ext cx="2789039" cy="3098116"/>
            <a:chOff x="0" y="0"/>
            <a:chExt cx="837317" cy="9301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7317" cy="930108"/>
            </a:xfrm>
            <a:custGeom>
              <a:avLst/>
              <a:gdLst/>
              <a:ahLst/>
              <a:cxnLst/>
              <a:rect r="r" b="b" t="t" l="l"/>
              <a:pathLst>
                <a:path h="930108" w="837317">
                  <a:moveTo>
                    <a:pt x="0" y="0"/>
                  </a:moveTo>
                  <a:lnTo>
                    <a:pt x="837317" y="0"/>
                  </a:lnTo>
                  <a:lnTo>
                    <a:pt x="837317" y="930108"/>
                  </a:lnTo>
                  <a:lnTo>
                    <a:pt x="0" y="930108"/>
                  </a:ln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37317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10800000">
            <a:off x="15130930" y="2885791"/>
            <a:ext cx="2465209" cy="2504483"/>
            <a:chOff x="0" y="0"/>
            <a:chExt cx="582288" cy="5915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2288" cy="591565"/>
            </a:xfrm>
            <a:custGeom>
              <a:avLst/>
              <a:gdLst/>
              <a:ahLst/>
              <a:cxnLst/>
              <a:rect r="r" b="b" t="t" l="l"/>
              <a:pathLst>
                <a:path h="591565" w="582288">
                  <a:moveTo>
                    <a:pt x="582288" y="0"/>
                  </a:moveTo>
                  <a:lnTo>
                    <a:pt x="582288" y="477265"/>
                  </a:lnTo>
                  <a:lnTo>
                    <a:pt x="291144" y="591565"/>
                  </a:lnTo>
                  <a:lnTo>
                    <a:pt x="0" y="477265"/>
                  </a:lnTo>
                  <a:lnTo>
                    <a:pt x="0" y="0"/>
                  </a:lnTo>
                  <a:lnTo>
                    <a:pt x="582288" y="0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82288" cy="51536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535067" y="1993882"/>
            <a:ext cx="1672189" cy="1672189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1CABB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8985078" y="2446471"/>
            <a:ext cx="634610" cy="634610"/>
          </a:xfrm>
          <a:custGeom>
            <a:avLst/>
            <a:gdLst/>
            <a:ahLst/>
            <a:cxnLst/>
            <a:rect r="r" b="b" t="t" l="l"/>
            <a:pathLst>
              <a:path h="634610" w="634610">
                <a:moveTo>
                  <a:pt x="0" y="0"/>
                </a:moveTo>
                <a:lnTo>
                  <a:pt x="634610" y="0"/>
                </a:lnTo>
                <a:lnTo>
                  <a:pt x="634610" y="634609"/>
                </a:lnTo>
                <a:lnTo>
                  <a:pt x="0" y="634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536994" y="2434461"/>
            <a:ext cx="703404" cy="703404"/>
          </a:xfrm>
          <a:custGeom>
            <a:avLst/>
            <a:gdLst/>
            <a:ahLst/>
            <a:cxnLst/>
            <a:rect r="r" b="b" t="t" l="l"/>
            <a:pathLst>
              <a:path h="703404" w="703404">
                <a:moveTo>
                  <a:pt x="0" y="0"/>
                </a:moveTo>
                <a:lnTo>
                  <a:pt x="703405" y="0"/>
                </a:lnTo>
                <a:lnTo>
                  <a:pt x="703405" y="703404"/>
                </a:lnTo>
                <a:lnTo>
                  <a:pt x="0" y="703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6001430" y="2514524"/>
            <a:ext cx="630905" cy="630905"/>
          </a:xfrm>
          <a:custGeom>
            <a:avLst/>
            <a:gdLst/>
            <a:ahLst/>
            <a:cxnLst/>
            <a:rect r="r" b="b" t="t" l="l"/>
            <a:pathLst>
              <a:path h="630905" w="630905">
                <a:moveTo>
                  <a:pt x="0" y="0"/>
                </a:moveTo>
                <a:lnTo>
                  <a:pt x="630906" y="0"/>
                </a:lnTo>
                <a:lnTo>
                  <a:pt x="630906" y="630905"/>
                </a:lnTo>
                <a:lnTo>
                  <a:pt x="0" y="6309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5309360" y="1270982"/>
            <a:ext cx="766928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summary: the opportunity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8775" y="3793918"/>
            <a:ext cx="246520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7,865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3271" y="4439355"/>
            <a:ext cx="229147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Total restaurant analyzed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20665" y="3802913"/>
            <a:ext cx="246520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515161" y="4448350"/>
            <a:ext cx="229147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Average ratings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38378" y="3757723"/>
            <a:ext cx="246520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53.6 min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132874" y="4484370"/>
            <a:ext cx="229147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Average delivery time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56092" y="3802913"/>
            <a:ext cx="246520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599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750588" y="4448350"/>
            <a:ext cx="229147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Unique cuisines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130930" y="3802913"/>
            <a:ext cx="246520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368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225426" y="4448350"/>
            <a:ext cx="229147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Average price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771525" y="6692236"/>
            <a:ext cx="16971194" cy="3098116"/>
            <a:chOff x="0" y="0"/>
            <a:chExt cx="5095045" cy="9301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95045" cy="930108"/>
            </a:xfrm>
            <a:custGeom>
              <a:avLst/>
              <a:gdLst/>
              <a:ahLst/>
              <a:cxnLst/>
              <a:rect r="r" b="b" t="t" l="l"/>
              <a:pathLst>
                <a:path h="930108" w="5095045">
                  <a:moveTo>
                    <a:pt x="0" y="0"/>
                  </a:moveTo>
                  <a:lnTo>
                    <a:pt x="5095045" y="0"/>
                  </a:lnTo>
                  <a:lnTo>
                    <a:pt x="5095045" y="930108"/>
                  </a:lnTo>
                  <a:lnTo>
                    <a:pt x="0" y="930108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095045" cy="9682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939"/>
                </a:lnSpc>
              </a:pPr>
              <a:r>
                <a:rPr lang="en-US" sz="20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My research process</a:t>
              </a: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Analyzed Swiggy platform data across different cities and areas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Identified market gaps and opportunities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Found the optimal cuisine, location, and pricing strategy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771525" y="7966690"/>
            <a:ext cx="331291" cy="331291"/>
          </a:xfrm>
          <a:custGeom>
            <a:avLst/>
            <a:gdLst/>
            <a:ahLst/>
            <a:cxnLst/>
            <a:rect r="r" b="b" t="t" l="l"/>
            <a:pathLst>
              <a:path h="331291" w="331291">
                <a:moveTo>
                  <a:pt x="0" y="0"/>
                </a:moveTo>
                <a:lnTo>
                  <a:pt x="331291" y="0"/>
                </a:lnTo>
                <a:lnTo>
                  <a:pt x="331291" y="331291"/>
                </a:lnTo>
                <a:lnTo>
                  <a:pt x="0" y="3312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771525" y="8241294"/>
            <a:ext cx="331291" cy="331291"/>
          </a:xfrm>
          <a:custGeom>
            <a:avLst/>
            <a:gdLst/>
            <a:ahLst/>
            <a:cxnLst/>
            <a:rect r="r" b="b" t="t" l="l"/>
            <a:pathLst>
              <a:path h="331291" w="331291">
                <a:moveTo>
                  <a:pt x="0" y="0"/>
                </a:moveTo>
                <a:lnTo>
                  <a:pt x="331291" y="0"/>
                </a:lnTo>
                <a:lnTo>
                  <a:pt x="331291" y="331291"/>
                </a:lnTo>
                <a:lnTo>
                  <a:pt x="0" y="3312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697409" y="8572585"/>
            <a:ext cx="331291" cy="331291"/>
          </a:xfrm>
          <a:custGeom>
            <a:avLst/>
            <a:gdLst/>
            <a:ahLst/>
            <a:cxnLst/>
            <a:rect r="r" b="b" t="t" l="l"/>
            <a:pathLst>
              <a:path h="331291" w="331291">
                <a:moveTo>
                  <a:pt x="0" y="0"/>
                </a:moveTo>
                <a:lnTo>
                  <a:pt x="331291" y="0"/>
                </a:lnTo>
                <a:lnTo>
                  <a:pt x="331291" y="331291"/>
                </a:lnTo>
                <a:lnTo>
                  <a:pt x="0" y="3312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711" y="3509687"/>
            <a:ext cx="5051303" cy="5405090"/>
          </a:xfrm>
          <a:custGeom>
            <a:avLst/>
            <a:gdLst/>
            <a:ahLst/>
            <a:cxnLst/>
            <a:rect r="r" b="b" t="t" l="l"/>
            <a:pathLst>
              <a:path h="5405090" w="5051303">
                <a:moveTo>
                  <a:pt x="0" y="0"/>
                </a:moveTo>
                <a:lnTo>
                  <a:pt x="5051303" y="0"/>
                </a:lnTo>
                <a:lnTo>
                  <a:pt x="5051303" y="5405090"/>
                </a:lnTo>
                <a:lnTo>
                  <a:pt x="0" y="54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25609" y="5143500"/>
            <a:ext cx="690758" cy="871369"/>
          </a:xfrm>
          <a:custGeom>
            <a:avLst/>
            <a:gdLst/>
            <a:ahLst/>
            <a:cxnLst/>
            <a:rect r="r" b="b" t="t" l="l"/>
            <a:pathLst>
              <a:path h="871369" w="690758">
                <a:moveTo>
                  <a:pt x="0" y="0"/>
                </a:moveTo>
                <a:lnTo>
                  <a:pt x="690758" y="0"/>
                </a:lnTo>
                <a:lnTo>
                  <a:pt x="690758" y="871369"/>
                </a:lnTo>
                <a:lnTo>
                  <a:pt x="0" y="87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5303" y="7716398"/>
            <a:ext cx="871369" cy="871369"/>
          </a:xfrm>
          <a:custGeom>
            <a:avLst/>
            <a:gdLst/>
            <a:ahLst/>
            <a:cxnLst/>
            <a:rect r="r" b="b" t="t" l="l"/>
            <a:pathLst>
              <a:path h="871369" w="871369">
                <a:moveTo>
                  <a:pt x="0" y="0"/>
                </a:moveTo>
                <a:lnTo>
                  <a:pt x="871369" y="0"/>
                </a:lnTo>
                <a:lnTo>
                  <a:pt x="871369" y="871369"/>
                </a:lnTo>
                <a:lnTo>
                  <a:pt x="0" y="871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35202" y="3877600"/>
            <a:ext cx="1035103" cy="871369"/>
          </a:xfrm>
          <a:custGeom>
            <a:avLst/>
            <a:gdLst/>
            <a:ahLst/>
            <a:cxnLst/>
            <a:rect r="r" b="b" t="t" l="l"/>
            <a:pathLst>
              <a:path h="871369" w="1035103">
                <a:moveTo>
                  <a:pt x="0" y="0"/>
                </a:moveTo>
                <a:lnTo>
                  <a:pt x="1035103" y="0"/>
                </a:lnTo>
                <a:lnTo>
                  <a:pt x="1035103" y="871369"/>
                </a:lnTo>
                <a:lnTo>
                  <a:pt x="0" y="871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9502" y="6377156"/>
            <a:ext cx="755715" cy="871369"/>
          </a:xfrm>
          <a:custGeom>
            <a:avLst/>
            <a:gdLst/>
            <a:ahLst/>
            <a:cxnLst/>
            <a:rect r="r" b="b" t="t" l="l"/>
            <a:pathLst>
              <a:path h="871369" w="755715">
                <a:moveTo>
                  <a:pt x="0" y="0"/>
                </a:moveTo>
                <a:lnTo>
                  <a:pt x="755714" y="0"/>
                </a:lnTo>
                <a:lnTo>
                  <a:pt x="755714" y="871369"/>
                </a:lnTo>
                <a:lnTo>
                  <a:pt x="0" y="871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590" y="1261457"/>
            <a:ext cx="6519544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5872" y="47872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0822" y="5286402"/>
            <a:ext cx="5143839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Swiggy restaurant dataset (kaggle)</a:t>
            </a:r>
          </a:p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Scope: 7865 restaurant across different  cities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193" y="7360163"/>
            <a:ext cx="608946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Cleaning, feature engineering &amp;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4998" y="7859301"/>
            <a:ext cx="443966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emoved duplicates, fixed formatting issues, and filtered out errors to ensure data is reliable.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3339" y="35594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3339" y="4058602"/>
            <a:ext cx="4439664" cy="120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766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Power BI for visualization and analysis</a:t>
            </a:r>
          </a:p>
          <a:p>
            <a:pPr algn="l">
              <a:lnSpc>
                <a:spcPts val="2472"/>
              </a:lnSpc>
            </a:pPr>
            <a:r>
              <a:rPr lang="en-US" sz="1766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Statistical correlation analysis</a:t>
            </a:r>
          </a:p>
          <a:p>
            <a:pPr algn="l">
              <a:lnSpc>
                <a:spcPts val="2472"/>
              </a:lnSpc>
            </a:pPr>
            <a:r>
              <a:rPr lang="en-US" sz="1766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Geographic and competitive mapping</a:t>
            </a:r>
          </a:p>
          <a:p>
            <a:pPr algn="l">
              <a:lnSpc>
                <a:spcPts val="2472"/>
              </a:lnSpc>
            </a:pPr>
            <a:r>
              <a:rPr lang="en-US" sz="1766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DAX measures for dynamic insights</a:t>
            </a:r>
            <a:r>
              <a:rPr lang="en-US" sz="1766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3339" y="6132364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 Assumptions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3339" y="6631501"/>
            <a:ext cx="4439664" cy="89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1721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We note any projections or estimates so stakeholders understand the data context and methodology behind the visuals.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101" y="2803976"/>
            <a:ext cx="4511659" cy="4606239"/>
            <a:chOff x="0" y="0"/>
            <a:chExt cx="1354478" cy="1382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3226" y="6517674"/>
            <a:ext cx="1785082" cy="17850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78671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3" y="0"/>
                </a:lnTo>
                <a:lnTo>
                  <a:pt x="674193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66101" y="2803976"/>
            <a:ext cx="4511659" cy="47625"/>
            <a:chOff x="0" y="0"/>
            <a:chExt cx="1354478" cy="14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56467" y="2803976"/>
            <a:ext cx="4511659" cy="4606239"/>
            <a:chOff x="0" y="0"/>
            <a:chExt cx="1354478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3592" y="6517674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069036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4" y="0"/>
                </a:lnTo>
                <a:lnTo>
                  <a:pt x="674194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56467" y="2803976"/>
            <a:ext cx="4511659" cy="47625"/>
            <a:chOff x="0" y="0"/>
            <a:chExt cx="1354478" cy="142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41780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8498053"/>
            <a:ext cx="15570948" cy="439270"/>
            <a:chOff x="0" y="0"/>
            <a:chExt cx="4674667" cy="131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74667" cy="131876"/>
            </a:xfrm>
            <a:custGeom>
              <a:avLst/>
              <a:gdLst/>
              <a:ahLst/>
              <a:cxnLst/>
              <a:rect r="r" b="b" t="t" l="l"/>
              <a:pathLst>
                <a:path h="131876" w="4674667">
                  <a:moveTo>
                    <a:pt x="0" y="0"/>
                  </a:moveTo>
                  <a:lnTo>
                    <a:pt x="4674667" y="0"/>
                  </a:lnTo>
                  <a:lnTo>
                    <a:pt x="4674667" y="131876"/>
                  </a:lnTo>
                  <a:lnTo>
                    <a:pt x="0" y="131876"/>
                  </a:lnTo>
                  <a:close/>
                </a:path>
              </a:pathLst>
            </a:custGeom>
            <a:solidFill>
              <a:srgbClr val="1CABB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74667" cy="1699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Recommendation: Focus on premium Asian, Italian cuisines for 40-60% margin improvement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07905" y="8498053"/>
            <a:ext cx="430642" cy="461702"/>
          </a:xfrm>
          <a:custGeom>
            <a:avLst/>
            <a:gdLst/>
            <a:ahLst/>
            <a:cxnLst/>
            <a:rect r="r" b="b" t="t" l="l"/>
            <a:pathLst>
              <a:path h="461702" w="430642">
                <a:moveTo>
                  <a:pt x="0" y="0"/>
                </a:moveTo>
                <a:lnTo>
                  <a:pt x="430642" y="0"/>
                </a:lnTo>
                <a:lnTo>
                  <a:pt x="430642" y="461702"/>
                </a:lnTo>
                <a:lnTo>
                  <a:pt x="0" y="46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44351" y="2851601"/>
            <a:ext cx="7522010" cy="3392290"/>
          </a:xfrm>
          <a:custGeom>
            <a:avLst/>
            <a:gdLst/>
            <a:ahLst/>
            <a:cxnLst/>
            <a:rect r="r" b="b" t="t" l="l"/>
            <a:pathLst>
              <a:path h="3392290" w="7522010">
                <a:moveTo>
                  <a:pt x="0" y="0"/>
                </a:moveTo>
                <a:lnTo>
                  <a:pt x="7522011" y="0"/>
                </a:lnTo>
                <a:lnTo>
                  <a:pt x="7522011" y="3392290"/>
                </a:lnTo>
                <a:lnTo>
                  <a:pt x="0" y="33922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94" t="0" r="-13827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991687" y="1444842"/>
            <a:ext cx="786666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 1: Market saturation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7377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Oversaturation market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8598" y="3989350"/>
            <a:ext cx="3082815" cy="249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Chinese, North Indian, South Indians restaurant at 200 - 300 avg price are overaturated with 2100+ resturants.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High competition = Lower margins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37742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Premium Opportunity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08964" y="3989350"/>
            <a:ext cx="3664525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Continental, Asian and Italian cuisines in Korean, Japanese and Indonesian have fewer competitors.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Average price: 1150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Same/better ratings: 4.3 - 4.6 average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101" y="2803976"/>
            <a:ext cx="4511659" cy="4606239"/>
            <a:chOff x="0" y="0"/>
            <a:chExt cx="1354478" cy="1382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3226" y="6517674"/>
            <a:ext cx="1785082" cy="17850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78671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3" y="0"/>
                </a:lnTo>
                <a:lnTo>
                  <a:pt x="674193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66101" y="2803976"/>
            <a:ext cx="4511659" cy="47625"/>
            <a:chOff x="0" y="0"/>
            <a:chExt cx="1354478" cy="14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56467" y="2803976"/>
            <a:ext cx="4511659" cy="4606239"/>
            <a:chOff x="0" y="0"/>
            <a:chExt cx="1354478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3592" y="6517674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069036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4" y="0"/>
                </a:lnTo>
                <a:lnTo>
                  <a:pt x="674194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56467" y="2803976"/>
            <a:ext cx="4511659" cy="47625"/>
            <a:chOff x="0" y="0"/>
            <a:chExt cx="1354478" cy="142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41780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8498053"/>
            <a:ext cx="15570948" cy="439270"/>
            <a:chOff x="0" y="0"/>
            <a:chExt cx="4674667" cy="131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74667" cy="131876"/>
            </a:xfrm>
            <a:custGeom>
              <a:avLst/>
              <a:gdLst/>
              <a:ahLst/>
              <a:cxnLst/>
              <a:rect r="r" b="b" t="t" l="l"/>
              <a:pathLst>
                <a:path h="131876" w="4674667">
                  <a:moveTo>
                    <a:pt x="0" y="0"/>
                  </a:moveTo>
                  <a:lnTo>
                    <a:pt x="4674667" y="0"/>
                  </a:lnTo>
                  <a:lnTo>
                    <a:pt x="4674667" y="131876"/>
                  </a:lnTo>
                  <a:lnTo>
                    <a:pt x="0" y="131876"/>
                  </a:lnTo>
                  <a:close/>
                </a:path>
              </a:pathLst>
            </a:custGeom>
            <a:solidFill>
              <a:srgbClr val="1CABB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74667" cy="1699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Recommendation: Target ₹500-700 pricing for optimal customer satisfaction and profitability to achieve 4.2+ ratings.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07905" y="8498053"/>
            <a:ext cx="430642" cy="461702"/>
          </a:xfrm>
          <a:custGeom>
            <a:avLst/>
            <a:gdLst/>
            <a:ahLst/>
            <a:cxnLst/>
            <a:rect r="r" b="b" t="t" l="l"/>
            <a:pathLst>
              <a:path h="461702" w="430642">
                <a:moveTo>
                  <a:pt x="0" y="0"/>
                </a:moveTo>
                <a:lnTo>
                  <a:pt x="430642" y="0"/>
                </a:lnTo>
                <a:lnTo>
                  <a:pt x="430642" y="461702"/>
                </a:lnTo>
                <a:lnTo>
                  <a:pt x="0" y="46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44351" y="2591575"/>
            <a:ext cx="7362845" cy="4197147"/>
          </a:xfrm>
          <a:custGeom>
            <a:avLst/>
            <a:gdLst/>
            <a:ahLst/>
            <a:cxnLst/>
            <a:rect r="r" b="b" t="t" l="l"/>
            <a:pathLst>
              <a:path h="4197147" w="7362845">
                <a:moveTo>
                  <a:pt x="0" y="0"/>
                </a:moveTo>
                <a:lnTo>
                  <a:pt x="7362846" y="0"/>
                </a:lnTo>
                <a:lnTo>
                  <a:pt x="7362846" y="4197148"/>
                </a:lnTo>
                <a:lnTo>
                  <a:pt x="0" y="41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36" r="0" b="-72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991687" y="1444842"/>
            <a:ext cx="786666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 2: Price Rating sweet spot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7377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Price Tier Analysis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9831" y="3820194"/>
            <a:ext cx="3465519" cy="249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Budget (&lt;₹300): 3.8-4.0 rating average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Medium (₹300-800): 4.0-4.3 rating average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Premium (&gt;₹800): 4.2-4.5 rating average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637742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Positioning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10967" y="3820194"/>
            <a:ext cx="3664525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₹500-700 range balances quality &amp; accessibility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Premium perception without exclusivity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Maintains healthy profit margins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8498053"/>
            <a:ext cx="15570948" cy="439270"/>
            <a:chOff x="0" y="0"/>
            <a:chExt cx="4674667" cy="131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74667" cy="131876"/>
            </a:xfrm>
            <a:custGeom>
              <a:avLst/>
              <a:gdLst/>
              <a:ahLst/>
              <a:cxnLst/>
              <a:rect r="r" b="b" t="t" l="l"/>
              <a:pathLst>
                <a:path h="131876" w="4674667">
                  <a:moveTo>
                    <a:pt x="0" y="0"/>
                  </a:moveTo>
                  <a:lnTo>
                    <a:pt x="4674667" y="0"/>
                  </a:lnTo>
                  <a:lnTo>
                    <a:pt x="4674667" y="131876"/>
                  </a:lnTo>
                  <a:lnTo>
                    <a:pt x="0" y="131876"/>
                  </a:lnTo>
                  <a:close/>
                </a:path>
              </a:pathLst>
            </a:custGeom>
            <a:solidFill>
              <a:srgbClr val="FFC2C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74667" cy="1699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Avoid: High density areas (20+ restaurants) with average ratings (4.0-4.2)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111591"/>
            <a:ext cx="14186422" cy="1881385"/>
            <a:chOff x="0" y="0"/>
            <a:chExt cx="18915230" cy="25085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0822"/>
              <a:ext cx="18915230" cy="2467691"/>
              <a:chOff x="0" y="0"/>
              <a:chExt cx="4259009" cy="5556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9009" cy="555633"/>
              </a:xfrm>
              <a:custGeom>
                <a:avLst/>
                <a:gdLst/>
                <a:ahLst/>
                <a:cxnLst/>
                <a:rect r="r" b="b" t="t" l="l"/>
                <a:pathLst>
                  <a:path h="555633" w="4259009">
                    <a:moveTo>
                      <a:pt x="0" y="0"/>
                    </a:moveTo>
                    <a:lnTo>
                      <a:pt x="4259009" y="0"/>
                    </a:lnTo>
                    <a:lnTo>
                      <a:pt x="4259009" y="555633"/>
                    </a:lnTo>
                    <a:lnTo>
                      <a:pt x="0" y="555633"/>
                    </a:lnTo>
                    <a:close/>
                  </a:path>
                </a:pathLst>
              </a:custGeom>
              <a:solidFill>
                <a:srgbClr val="F6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9009" cy="593733"/>
              </a:xfrm>
              <a:prstGeom prst="rect">
                <a:avLst/>
              </a:prstGeom>
            </p:spPr>
            <p:txBody>
              <a:bodyPr anchor="ctr" rtlCol="false" tIns="44566" lIns="44566" bIns="44566" rIns="4456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83767" cy="2508513"/>
              <a:chOff x="0" y="0"/>
              <a:chExt cx="18861" cy="56482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861" cy="564824"/>
              </a:xfrm>
              <a:custGeom>
                <a:avLst/>
                <a:gdLst/>
                <a:ahLst/>
                <a:cxnLst/>
                <a:rect r="r" b="b" t="t" l="l"/>
                <a:pathLst>
                  <a:path h="564824" w="18861">
                    <a:moveTo>
                      <a:pt x="0" y="0"/>
                    </a:moveTo>
                    <a:lnTo>
                      <a:pt x="18861" y="0"/>
                    </a:lnTo>
                    <a:lnTo>
                      <a:pt x="18861" y="564824"/>
                    </a:lnTo>
                    <a:lnTo>
                      <a:pt x="0" y="564824"/>
                    </a:lnTo>
                    <a:close/>
                  </a:path>
                </a:pathLst>
              </a:custGeom>
              <a:solidFill>
                <a:srgbClr val="4E851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861" cy="602924"/>
              </a:xfrm>
              <a:prstGeom prst="rect">
                <a:avLst/>
              </a:prstGeom>
            </p:spPr>
            <p:txBody>
              <a:bodyPr anchor="ctr" rtlCol="false" tIns="44566" lIns="44566" bIns="44566" rIns="4456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1884" y="48430"/>
              <a:ext cx="17733849" cy="2414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</a:pPr>
              <a:r>
                <a:rPr lang="en-US" sz="1984" b="true">
                  <a:solidFill>
                    <a:srgbClr val="1B1B1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Girish Park</a:t>
              </a:r>
            </a:p>
            <a:p>
              <a:pPr algn="l">
                <a:lnSpc>
                  <a:spcPts val="2358"/>
                </a:lnSpc>
              </a:pP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                                                                                                                                                                                                                       </a:t>
              </a:r>
              <a:r>
                <a:rPr lang="en-US" sz="1684" b="true">
                  <a:solidFill>
                    <a:srgbClr val="1B1B1B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⭐ </a:t>
              </a:r>
              <a:r>
                <a:rPr lang="en-US" sz="1684" b="true">
                  <a:solidFill>
                    <a:srgbClr val="1B1B1B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4.9</a:t>
              </a: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</a:t>
              </a: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🏪 1 restaurant(s)💰 ₹300 avg</a:t>
              </a: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</a:t>
              </a:r>
              <a:r>
                <a:rPr lang="en-US" sz="1684" i="true">
                  <a:solidFill>
                    <a:srgbClr val="1B1B1B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Strategy: Premium entry, first-mover advantage</a:t>
              </a:r>
            </a:p>
            <a:p>
              <a:pPr algn="l">
                <a:lnSpc>
                  <a:spcPts val="235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404592"/>
            <a:ext cx="14186422" cy="1850768"/>
            <a:chOff x="0" y="0"/>
            <a:chExt cx="4259009" cy="5556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59009" cy="555633"/>
            </a:xfrm>
            <a:custGeom>
              <a:avLst/>
              <a:gdLst/>
              <a:ahLst/>
              <a:cxnLst/>
              <a:rect r="r" b="b" t="t" l="l"/>
              <a:pathLst>
                <a:path h="555633" w="4259009">
                  <a:moveTo>
                    <a:pt x="0" y="0"/>
                  </a:moveTo>
                  <a:lnTo>
                    <a:pt x="4259009" y="0"/>
                  </a:lnTo>
                  <a:lnTo>
                    <a:pt x="4259009" y="555633"/>
                  </a:lnTo>
                  <a:lnTo>
                    <a:pt x="0" y="555633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59009" cy="59373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4373976"/>
            <a:ext cx="62826" cy="1881385"/>
            <a:chOff x="0" y="0"/>
            <a:chExt cx="18861" cy="564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61" cy="564824"/>
            </a:xfrm>
            <a:custGeom>
              <a:avLst/>
              <a:gdLst/>
              <a:ahLst/>
              <a:cxnLst/>
              <a:rect r="r" b="b" t="t" l="l"/>
              <a:pathLst>
                <a:path h="564824" w="18861">
                  <a:moveTo>
                    <a:pt x="0" y="0"/>
                  </a:moveTo>
                  <a:lnTo>
                    <a:pt x="18861" y="0"/>
                  </a:lnTo>
                  <a:lnTo>
                    <a:pt x="18861" y="564824"/>
                  </a:lnTo>
                  <a:lnTo>
                    <a:pt x="0" y="564824"/>
                  </a:lnTo>
                  <a:close/>
                </a:path>
              </a:pathLst>
            </a:custGeom>
            <a:solidFill>
              <a:srgbClr val="4E851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861" cy="60292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6430406"/>
            <a:ext cx="14186422" cy="1881385"/>
            <a:chOff x="0" y="0"/>
            <a:chExt cx="18915230" cy="250851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40822"/>
              <a:ext cx="18915230" cy="2467691"/>
              <a:chOff x="0" y="0"/>
              <a:chExt cx="4259009" cy="5556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259009" cy="555633"/>
              </a:xfrm>
              <a:custGeom>
                <a:avLst/>
                <a:gdLst/>
                <a:ahLst/>
                <a:cxnLst/>
                <a:rect r="r" b="b" t="t" l="l"/>
                <a:pathLst>
                  <a:path h="555633" w="4259009">
                    <a:moveTo>
                      <a:pt x="0" y="0"/>
                    </a:moveTo>
                    <a:lnTo>
                      <a:pt x="4259009" y="0"/>
                    </a:lnTo>
                    <a:lnTo>
                      <a:pt x="4259009" y="555633"/>
                    </a:lnTo>
                    <a:lnTo>
                      <a:pt x="0" y="555633"/>
                    </a:lnTo>
                    <a:close/>
                  </a:path>
                </a:pathLst>
              </a:custGeom>
              <a:solidFill>
                <a:srgbClr val="F6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259009" cy="593733"/>
              </a:xfrm>
              <a:prstGeom prst="rect">
                <a:avLst/>
              </a:prstGeom>
            </p:spPr>
            <p:txBody>
              <a:bodyPr anchor="ctr" rtlCol="false" tIns="44566" lIns="44566" bIns="44566" rIns="4456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83767" cy="2508513"/>
              <a:chOff x="0" y="0"/>
              <a:chExt cx="18861" cy="56482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8861" cy="564824"/>
              </a:xfrm>
              <a:custGeom>
                <a:avLst/>
                <a:gdLst/>
                <a:ahLst/>
                <a:cxnLst/>
                <a:rect r="r" b="b" t="t" l="l"/>
                <a:pathLst>
                  <a:path h="564824" w="18861">
                    <a:moveTo>
                      <a:pt x="0" y="0"/>
                    </a:moveTo>
                    <a:lnTo>
                      <a:pt x="18861" y="0"/>
                    </a:lnTo>
                    <a:lnTo>
                      <a:pt x="18861" y="564824"/>
                    </a:lnTo>
                    <a:lnTo>
                      <a:pt x="0" y="564824"/>
                    </a:lnTo>
                    <a:close/>
                  </a:path>
                </a:pathLst>
              </a:custGeom>
              <a:solidFill>
                <a:srgbClr val="4E851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8861" cy="602924"/>
              </a:xfrm>
              <a:prstGeom prst="rect">
                <a:avLst/>
              </a:prstGeom>
            </p:spPr>
            <p:txBody>
              <a:bodyPr anchor="ctr" rtlCol="false" tIns="44566" lIns="44566" bIns="44566" rIns="4456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1884" y="48430"/>
              <a:ext cx="17733849" cy="2414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</a:pPr>
              <a:r>
                <a:rPr lang="en-US" sz="1984" b="true">
                  <a:solidFill>
                    <a:srgbClr val="1B1B1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Esplanade</a:t>
              </a:r>
            </a:p>
            <a:p>
              <a:pPr algn="l">
                <a:lnSpc>
                  <a:spcPts val="2358"/>
                </a:lnSpc>
              </a:pP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                                                                                                                                                                                                                       </a:t>
              </a:r>
              <a:r>
                <a:rPr lang="en-US" sz="1684" b="true">
                  <a:solidFill>
                    <a:srgbClr val="1B1B1B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⭐ </a:t>
              </a:r>
              <a:r>
                <a:rPr lang="en-US" sz="1684" b="true">
                  <a:solidFill>
                    <a:srgbClr val="1B1B1B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4.5</a:t>
              </a: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</a:t>
              </a: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🏪 5 restaurant(s) 💰 ₹307 avg</a:t>
              </a:r>
            </a:p>
            <a:p>
              <a:pPr algn="l">
                <a:lnSpc>
                  <a:spcPts val="2358"/>
                </a:lnSpc>
              </a:pPr>
              <a:r>
                <a:rPr lang="en-US" sz="1684">
                  <a:solidFill>
                    <a:srgbClr val="1B1B1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</a:t>
              </a:r>
              <a:r>
                <a:rPr lang="en-US" sz="1684" i="true">
                  <a:solidFill>
                    <a:srgbClr val="1B1B1B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Strategy: Quality differentiation</a:t>
              </a:r>
            </a:p>
            <a:p>
              <a:pPr algn="l">
                <a:lnSpc>
                  <a:spcPts val="2358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08999" y="8474897"/>
            <a:ext cx="462426" cy="462426"/>
          </a:xfrm>
          <a:custGeom>
            <a:avLst/>
            <a:gdLst/>
            <a:ahLst/>
            <a:cxnLst/>
            <a:rect r="r" b="b" t="t" l="l"/>
            <a:pathLst>
              <a:path h="462426" w="462426">
                <a:moveTo>
                  <a:pt x="0" y="0"/>
                </a:moveTo>
                <a:lnTo>
                  <a:pt x="462426" y="0"/>
                </a:lnTo>
                <a:lnTo>
                  <a:pt x="462426" y="462426"/>
                </a:lnTo>
                <a:lnTo>
                  <a:pt x="0" y="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838605" y="514351"/>
            <a:ext cx="922909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 3: Geographic Opportunities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4295" y="137435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opportunity areas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0113" y="4400773"/>
            <a:ext cx="13300387" cy="182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1984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Vardhman Premium Mall</a:t>
            </a:r>
          </a:p>
          <a:p>
            <a:pPr algn="l">
              <a:lnSpc>
                <a:spcPts val="2358"/>
              </a:lnSpc>
            </a:pPr>
          </a:p>
          <a:p>
            <a:pPr algn="l">
              <a:lnSpc>
                <a:spcPts val="2358"/>
              </a:lnSpc>
            </a:pPr>
            <a:r>
              <a:rPr lang="en-US" sz="168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684" b="true">
                <a:solidFill>
                  <a:srgbClr val="1B1B1B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⭐ </a:t>
            </a:r>
            <a:r>
              <a:rPr lang="en-US" sz="1684" b="true">
                <a:solidFill>
                  <a:srgbClr val="1B1B1B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4.8</a:t>
            </a:r>
          </a:p>
          <a:p>
            <a:pPr algn="l">
              <a:lnSpc>
                <a:spcPts val="2358"/>
              </a:lnSpc>
            </a:pPr>
            <a:r>
              <a:rPr lang="en-US" sz="168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       </a:t>
            </a:r>
            <a:r>
              <a:rPr lang="en-US" sz="168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🏪 1 restaurant(s)💰 ₹700 avg</a:t>
            </a:r>
          </a:p>
          <a:p>
            <a:pPr algn="l">
              <a:lnSpc>
                <a:spcPts val="2358"/>
              </a:lnSpc>
            </a:pPr>
            <a:r>
              <a:rPr lang="en-US" sz="168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        </a:t>
            </a:r>
            <a:r>
              <a:rPr lang="en-US" sz="1684" i="true">
                <a:solidFill>
                  <a:srgbClr val="1B1B1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Strategy: Premium delivery hub</a:t>
            </a:r>
          </a:p>
          <a:p>
            <a:pPr algn="l">
              <a:lnSpc>
                <a:spcPts val="2358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1028700" y="8521341"/>
            <a:ext cx="49966" cy="415982"/>
            <a:chOff x="0" y="0"/>
            <a:chExt cx="15001" cy="1248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001" cy="124885"/>
            </a:xfrm>
            <a:custGeom>
              <a:avLst/>
              <a:gdLst/>
              <a:ahLst/>
              <a:cxnLst/>
              <a:rect r="r" b="b" t="t" l="l"/>
              <a:pathLst>
                <a:path h="124885" w="15001">
                  <a:moveTo>
                    <a:pt x="0" y="0"/>
                  </a:moveTo>
                  <a:lnTo>
                    <a:pt x="15001" y="0"/>
                  </a:lnTo>
                  <a:lnTo>
                    <a:pt x="15001" y="124885"/>
                  </a:lnTo>
                  <a:lnTo>
                    <a:pt x="0" y="124885"/>
                  </a:ln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001" cy="16298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101" y="2803976"/>
            <a:ext cx="4511659" cy="4606239"/>
            <a:chOff x="0" y="0"/>
            <a:chExt cx="1354478" cy="1382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3226" y="6517674"/>
            <a:ext cx="1785082" cy="17850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78671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3" y="0"/>
                </a:lnTo>
                <a:lnTo>
                  <a:pt x="674193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66101" y="2803976"/>
            <a:ext cx="4511659" cy="47625"/>
            <a:chOff x="0" y="0"/>
            <a:chExt cx="1354478" cy="14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56467" y="2803976"/>
            <a:ext cx="4511659" cy="4606239"/>
            <a:chOff x="0" y="0"/>
            <a:chExt cx="1354478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47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447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3592" y="6517674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DB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069036" y="7100086"/>
            <a:ext cx="674193" cy="620258"/>
          </a:xfrm>
          <a:custGeom>
            <a:avLst/>
            <a:gdLst/>
            <a:ahLst/>
            <a:cxnLst/>
            <a:rect r="r" b="b" t="t" l="l"/>
            <a:pathLst>
              <a:path h="620258" w="674193">
                <a:moveTo>
                  <a:pt x="0" y="0"/>
                </a:moveTo>
                <a:lnTo>
                  <a:pt x="674194" y="0"/>
                </a:lnTo>
                <a:lnTo>
                  <a:pt x="674194" y="620258"/>
                </a:lnTo>
                <a:lnTo>
                  <a:pt x="0" y="62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56467" y="2803976"/>
            <a:ext cx="4511659" cy="47625"/>
            <a:chOff x="0" y="0"/>
            <a:chExt cx="1354478" cy="142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4478" cy="14298"/>
            </a:xfrm>
            <a:custGeom>
              <a:avLst/>
              <a:gdLst/>
              <a:ahLst/>
              <a:cxnLst/>
              <a:rect r="r" b="b" t="t" l="l"/>
              <a:pathLst>
                <a:path h="14298" w="1354478">
                  <a:moveTo>
                    <a:pt x="0" y="0"/>
                  </a:moveTo>
                  <a:lnTo>
                    <a:pt x="1354478" y="0"/>
                  </a:lnTo>
                  <a:lnTo>
                    <a:pt x="1354478" y="14298"/>
                  </a:lnTo>
                  <a:lnTo>
                    <a:pt x="0" y="14298"/>
                  </a:lnTo>
                  <a:close/>
                </a:path>
              </a:pathLst>
            </a:custGeom>
            <a:solidFill>
              <a:srgbClr val="41780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54478" cy="5239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8498053"/>
            <a:ext cx="15570948" cy="439270"/>
            <a:chOff x="0" y="0"/>
            <a:chExt cx="4674667" cy="131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74667" cy="131876"/>
            </a:xfrm>
            <a:custGeom>
              <a:avLst/>
              <a:gdLst/>
              <a:ahLst/>
              <a:cxnLst/>
              <a:rect r="r" b="b" t="t" l="l"/>
              <a:pathLst>
                <a:path h="131876" w="4674667">
                  <a:moveTo>
                    <a:pt x="0" y="0"/>
                  </a:moveTo>
                  <a:lnTo>
                    <a:pt x="4674667" y="0"/>
                  </a:lnTo>
                  <a:lnTo>
                    <a:pt x="4674667" y="131876"/>
                  </a:lnTo>
                  <a:lnTo>
                    <a:pt x="0" y="131876"/>
                  </a:lnTo>
                  <a:close/>
                </a:path>
              </a:pathLst>
            </a:custGeom>
            <a:solidFill>
              <a:srgbClr val="1CABB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74667" cy="1699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Recommendation: Target 35-40 mins delivery for 25% speed advantage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07905" y="8498053"/>
            <a:ext cx="430642" cy="461702"/>
          </a:xfrm>
          <a:custGeom>
            <a:avLst/>
            <a:gdLst/>
            <a:ahLst/>
            <a:cxnLst/>
            <a:rect r="r" b="b" t="t" l="l"/>
            <a:pathLst>
              <a:path h="461702" w="430642">
                <a:moveTo>
                  <a:pt x="0" y="0"/>
                </a:moveTo>
                <a:lnTo>
                  <a:pt x="430642" y="0"/>
                </a:lnTo>
                <a:lnTo>
                  <a:pt x="430642" y="461702"/>
                </a:lnTo>
                <a:lnTo>
                  <a:pt x="0" y="46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53876" y="2851601"/>
            <a:ext cx="5200799" cy="2919222"/>
          </a:xfrm>
          <a:custGeom>
            <a:avLst/>
            <a:gdLst/>
            <a:ahLst/>
            <a:cxnLst/>
            <a:rect r="r" b="b" t="t" l="l"/>
            <a:pathLst>
              <a:path h="2919222" w="5200799">
                <a:moveTo>
                  <a:pt x="0" y="0"/>
                </a:moveTo>
                <a:lnTo>
                  <a:pt x="5200799" y="0"/>
                </a:lnTo>
                <a:lnTo>
                  <a:pt x="5200799" y="2919222"/>
                </a:lnTo>
                <a:lnTo>
                  <a:pt x="0" y="2919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29" t="0" r="-439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991687" y="1444842"/>
            <a:ext cx="9764876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 4: Delivery time opportunity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7377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market state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0105" y="4037648"/>
            <a:ext cx="3465519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Avera</a:t>
            </a: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ge delivery: 53.6 minutes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Peak concentration: 50-60 minutes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Fast delivery (&lt;40 min): Only 15% of restaurants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637742" y="333554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Competitive advantage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80034" y="4158405"/>
            <a:ext cx="3664525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5% faster than market average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Reduces food quality degradation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Improves ratings by 0.3-0.5 points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412456"/>
            <a:ext cx="14186422" cy="2580520"/>
            <a:chOff x="0" y="0"/>
            <a:chExt cx="4259009" cy="7747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59009" cy="774716"/>
            </a:xfrm>
            <a:custGeom>
              <a:avLst/>
              <a:gdLst/>
              <a:ahLst/>
              <a:cxnLst/>
              <a:rect r="r" b="b" t="t" l="l"/>
              <a:pathLst>
                <a:path h="774716" w="4259009">
                  <a:moveTo>
                    <a:pt x="0" y="0"/>
                  </a:moveTo>
                  <a:lnTo>
                    <a:pt x="4259009" y="0"/>
                  </a:lnTo>
                  <a:lnTo>
                    <a:pt x="4259009" y="774716"/>
                  </a:lnTo>
                  <a:lnTo>
                    <a:pt x="0" y="7747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59009" cy="81281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0749" y="1412456"/>
            <a:ext cx="48392" cy="2580520"/>
            <a:chOff x="0" y="0"/>
            <a:chExt cx="14528" cy="7747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28" cy="774716"/>
            </a:xfrm>
            <a:custGeom>
              <a:avLst/>
              <a:gdLst/>
              <a:ahLst/>
              <a:cxnLst/>
              <a:rect r="r" b="b" t="t" l="l"/>
              <a:pathLst>
                <a:path h="774716" w="14528">
                  <a:moveTo>
                    <a:pt x="0" y="0"/>
                  </a:moveTo>
                  <a:lnTo>
                    <a:pt x="14528" y="0"/>
                  </a:lnTo>
                  <a:lnTo>
                    <a:pt x="14528" y="774716"/>
                  </a:lnTo>
                  <a:lnTo>
                    <a:pt x="0" y="774716"/>
                  </a:lnTo>
                  <a:close/>
                </a:path>
              </a:pathLst>
            </a:custGeom>
            <a:solidFill>
              <a:srgbClr val="4E85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528" cy="81281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23102"/>
            <a:ext cx="9229090" cy="80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Plan</a:t>
            </a:r>
          </a:p>
          <a:p>
            <a:pPr algn="l">
              <a:lnSpc>
                <a:spcPts val="2240"/>
              </a:lnSpc>
            </a:pPr>
            <a:r>
              <a:rPr lang="en-US" sz="1600" i="true">
                <a:solidFill>
                  <a:srgbClr val="1B1B1B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premium </a:t>
            </a:r>
            <a:r>
              <a:rPr lang="en-US" sz="1600" i="true">
                <a:solidFill>
                  <a:srgbClr val="1B1B1B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cloud kitchen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526" y="137435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strategy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641" y="2008793"/>
            <a:ext cx="5981244" cy="693923"/>
            <a:chOff x="0" y="0"/>
            <a:chExt cx="1795672" cy="2083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5673" cy="208328"/>
            </a:xfrm>
            <a:custGeom>
              <a:avLst/>
              <a:gdLst/>
              <a:ahLst/>
              <a:cxnLst/>
              <a:rect r="r" b="b" t="t" l="l"/>
              <a:pathLst>
                <a:path h="208328" w="1795673">
                  <a:moveTo>
                    <a:pt x="0" y="0"/>
                  </a:moveTo>
                  <a:lnTo>
                    <a:pt x="1795673" y="0"/>
                  </a:lnTo>
                  <a:lnTo>
                    <a:pt x="1795673" y="208328"/>
                  </a:lnTo>
                  <a:lnTo>
                    <a:pt x="0" y="208328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95672" cy="24642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✓ Location analytics: Optimal area identification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7641" y="3083716"/>
            <a:ext cx="5981244" cy="693923"/>
            <a:chOff x="0" y="0"/>
            <a:chExt cx="1795672" cy="208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5673" cy="208328"/>
            </a:xfrm>
            <a:custGeom>
              <a:avLst/>
              <a:gdLst/>
              <a:ahLst/>
              <a:cxnLst/>
              <a:rect r="r" b="b" t="t" l="l"/>
              <a:pathLst>
                <a:path h="208328" w="1795673">
                  <a:moveTo>
                    <a:pt x="0" y="0"/>
                  </a:moveTo>
                  <a:lnTo>
                    <a:pt x="1795673" y="0"/>
                  </a:lnTo>
                  <a:lnTo>
                    <a:pt x="1795673" y="208328"/>
                  </a:lnTo>
                  <a:lnTo>
                    <a:pt x="0" y="208328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95672" cy="24642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✓ Pricing strategy: Competitive benchmarking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10306" y="2008793"/>
            <a:ext cx="5981244" cy="693923"/>
            <a:chOff x="0" y="0"/>
            <a:chExt cx="1795672" cy="208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95673" cy="208328"/>
            </a:xfrm>
            <a:custGeom>
              <a:avLst/>
              <a:gdLst/>
              <a:ahLst/>
              <a:cxnLst/>
              <a:rect r="r" b="b" t="t" l="l"/>
              <a:pathLst>
                <a:path h="208328" w="1795673">
                  <a:moveTo>
                    <a:pt x="0" y="0"/>
                  </a:moveTo>
                  <a:lnTo>
                    <a:pt x="1795673" y="0"/>
                  </a:lnTo>
                  <a:lnTo>
                    <a:pt x="1795673" y="208328"/>
                  </a:lnTo>
                  <a:lnTo>
                    <a:pt x="0" y="208328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95672" cy="24642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✓ Cuisine recommendations: Demand-gap analysis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0306" y="3083716"/>
            <a:ext cx="5981244" cy="772645"/>
            <a:chOff x="0" y="0"/>
            <a:chExt cx="1795672" cy="231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95673" cy="231961"/>
            </a:xfrm>
            <a:custGeom>
              <a:avLst/>
              <a:gdLst/>
              <a:ahLst/>
              <a:cxnLst/>
              <a:rect r="r" b="b" t="t" l="l"/>
              <a:pathLst>
                <a:path h="231961" w="1795673">
                  <a:moveTo>
                    <a:pt x="0" y="0"/>
                  </a:moveTo>
                  <a:lnTo>
                    <a:pt x="1795673" y="0"/>
                  </a:lnTo>
                  <a:lnTo>
                    <a:pt x="1795673" y="231961"/>
                  </a:lnTo>
                  <a:lnTo>
                    <a:pt x="0" y="231961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95672" cy="270061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✓ Performance tracking: Real-time market monitoring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1526" y="4580566"/>
            <a:ext cx="14186422" cy="3391853"/>
            <a:chOff x="0" y="0"/>
            <a:chExt cx="4259009" cy="10182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59009" cy="1018293"/>
            </a:xfrm>
            <a:custGeom>
              <a:avLst/>
              <a:gdLst/>
              <a:ahLst/>
              <a:cxnLst/>
              <a:rect r="r" b="b" t="t" l="l"/>
              <a:pathLst>
                <a:path h="1018293" w="4259009">
                  <a:moveTo>
                    <a:pt x="0" y="0"/>
                  </a:moveTo>
                  <a:lnTo>
                    <a:pt x="4259009" y="0"/>
                  </a:lnTo>
                  <a:lnTo>
                    <a:pt x="4259009" y="1018293"/>
                  </a:lnTo>
                  <a:lnTo>
                    <a:pt x="0" y="10182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59009" cy="105639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4747" y="4580566"/>
            <a:ext cx="65170" cy="3391853"/>
            <a:chOff x="0" y="0"/>
            <a:chExt cx="19565" cy="10182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65" cy="1018293"/>
            </a:xfrm>
            <a:custGeom>
              <a:avLst/>
              <a:gdLst/>
              <a:ahLst/>
              <a:cxnLst/>
              <a:rect r="r" b="b" t="t" l="l"/>
              <a:pathLst>
                <a:path h="1018293" w="19565">
                  <a:moveTo>
                    <a:pt x="0" y="0"/>
                  </a:moveTo>
                  <a:lnTo>
                    <a:pt x="19565" y="0"/>
                  </a:lnTo>
                  <a:lnTo>
                    <a:pt x="19565" y="1018293"/>
                  </a:lnTo>
                  <a:lnTo>
                    <a:pt x="0" y="1018293"/>
                  </a:lnTo>
                  <a:close/>
                </a:path>
              </a:pathLst>
            </a:custGeom>
            <a:solidFill>
              <a:srgbClr val="4E851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565" cy="105639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57641" y="4787265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model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45360" y="5524500"/>
            <a:ext cx="3149232" cy="2045702"/>
            <a:chOff x="0" y="0"/>
            <a:chExt cx="945454" cy="6141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5454" cy="614155"/>
            </a:xfrm>
            <a:custGeom>
              <a:avLst/>
              <a:gdLst/>
              <a:ahLst/>
              <a:cxnLst/>
              <a:rect r="r" b="b" t="t" l="l"/>
              <a:pathLst>
                <a:path h="614155" w="945454">
                  <a:moveTo>
                    <a:pt x="0" y="0"/>
                  </a:moveTo>
                  <a:lnTo>
                    <a:pt x="945454" y="0"/>
                  </a:lnTo>
                  <a:lnTo>
                    <a:pt x="945454" y="614155"/>
                  </a:lnTo>
                  <a:lnTo>
                    <a:pt x="0" y="614155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45454" cy="65225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Daily orders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40 orders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Conservative estimate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94768" y="5510892"/>
            <a:ext cx="3149232" cy="2045702"/>
            <a:chOff x="0" y="0"/>
            <a:chExt cx="945454" cy="6141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5454" cy="614155"/>
            </a:xfrm>
            <a:custGeom>
              <a:avLst/>
              <a:gdLst/>
              <a:ahLst/>
              <a:cxnLst/>
              <a:rect r="r" b="b" t="t" l="l"/>
              <a:pathLst>
                <a:path h="614155" w="945454">
                  <a:moveTo>
                    <a:pt x="0" y="0"/>
                  </a:moveTo>
                  <a:lnTo>
                    <a:pt x="945454" y="0"/>
                  </a:lnTo>
                  <a:lnTo>
                    <a:pt x="945454" y="614155"/>
                  </a:lnTo>
                  <a:lnTo>
                    <a:pt x="0" y="614155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45454" cy="65225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Order Value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₹600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Premium positioning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542317" y="5510892"/>
            <a:ext cx="3149232" cy="2045702"/>
            <a:chOff x="0" y="0"/>
            <a:chExt cx="945454" cy="6141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5454" cy="614155"/>
            </a:xfrm>
            <a:custGeom>
              <a:avLst/>
              <a:gdLst/>
              <a:ahLst/>
              <a:cxnLst/>
              <a:rect r="r" b="b" t="t" l="l"/>
              <a:pathLst>
                <a:path h="614155" w="945454">
                  <a:moveTo>
                    <a:pt x="0" y="0"/>
                  </a:moveTo>
                  <a:lnTo>
                    <a:pt x="945454" y="0"/>
                  </a:lnTo>
                  <a:lnTo>
                    <a:pt x="945454" y="614155"/>
                  </a:lnTo>
                  <a:lnTo>
                    <a:pt x="0" y="614155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45454" cy="65225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Monthly revenue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₹7.2 Lakhs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₹86.4L annually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412456"/>
            <a:ext cx="14186422" cy="8030228"/>
            <a:chOff x="0" y="0"/>
            <a:chExt cx="4259009" cy="24108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59009" cy="2410813"/>
            </a:xfrm>
            <a:custGeom>
              <a:avLst/>
              <a:gdLst/>
              <a:ahLst/>
              <a:cxnLst/>
              <a:rect r="r" b="b" t="t" l="l"/>
              <a:pathLst>
                <a:path h="2410813" w="4259009">
                  <a:moveTo>
                    <a:pt x="0" y="0"/>
                  </a:moveTo>
                  <a:lnTo>
                    <a:pt x="4259009" y="0"/>
                  </a:lnTo>
                  <a:lnTo>
                    <a:pt x="4259009" y="2410813"/>
                  </a:lnTo>
                  <a:lnTo>
                    <a:pt x="0" y="24108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59009" cy="24489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7641" y="2008793"/>
            <a:ext cx="10956399" cy="1229709"/>
            <a:chOff x="0" y="0"/>
            <a:chExt cx="3289300" cy="369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89300" cy="369180"/>
            </a:xfrm>
            <a:custGeom>
              <a:avLst/>
              <a:gdLst/>
              <a:ahLst/>
              <a:cxnLst/>
              <a:rect r="r" b="b" t="t" l="l"/>
              <a:pathLst>
                <a:path h="369180" w="3289300">
                  <a:moveTo>
                    <a:pt x="0" y="0"/>
                  </a:moveTo>
                  <a:lnTo>
                    <a:pt x="3289300" y="0"/>
                  </a:lnTo>
                  <a:lnTo>
                    <a:pt x="3289300" y="369180"/>
                  </a:lnTo>
                  <a:lnTo>
                    <a:pt x="0" y="369180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89300" cy="40728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410206" indent="-205103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🎯 Focus on Premium Asian Fusion (Korean, Japanese, Indonesian)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7641" y="3646014"/>
            <a:ext cx="10956399" cy="1497486"/>
            <a:chOff x="0" y="0"/>
            <a:chExt cx="3289300" cy="4495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89300" cy="449571"/>
            </a:xfrm>
            <a:custGeom>
              <a:avLst/>
              <a:gdLst/>
              <a:ahLst/>
              <a:cxnLst/>
              <a:rect r="r" b="b" t="t" l="l"/>
              <a:pathLst>
                <a:path h="449571" w="3289300">
                  <a:moveTo>
                    <a:pt x="0" y="0"/>
                  </a:moveTo>
                  <a:lnTo>
                    <a:pt x="3289300" y="0"/>
                  </a:lnTo>
                  <a:lnTo>
                    <a:pt x="3289300" y="449571"/>
                  </a:lnTo>
                  <a:lnTo>
                    <a:pt x="0" y="449571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89300" cy="487671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410206" indent="-205103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⚡ Optimize for &lt;40 minute delivery through strategic location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7641" y="5553075"/>
            <a:ext cx="10956399" cy="1688954"/>
            <a:chOff x="0" y="0"/>
            <a:chExt cx="3289300" cy="5070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9300" cy="507053"/>
            </a:xfrm>
            <a:custGeom>
              <a:avLst/>
              <a:gdLst/>
              <a:ahLst/>
              <a:cxnLst/>
              <a:rect r="r" b="b" t="t" l="l"/>
              <a:pathLst>
                <a:path h="507053" w="3289300">
                  <a:moveTo>
                    <a:pt x="0" y="0"/>
                  </a:moveTo>
                  <a:lnTo>
                    <a:pt x="3289300" y="0"/>
                  </a:lnTo>
                  <a:lnTo>
                    <a:pt x="3289300" y="507053"/>
                  </a:lnTo>
                  <a:lnTo>
                    <a:pt x="0" y="507053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89300" cy="54515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410206" indent="-205103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💰 Price between ₹500-700 for optimal rating-profitability balance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7641" y="7651604"/>
            <a:ext cx="10956399" cy="1350584"/>
            <a:chOff x="0" y="0"/>
            <a:chExt cx="3289300" cy="4054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89300" cy="405469"/>
            </a:xfrm>
            <a:custGeom>
              <a:avLst/>
              <a:gdLst/>
              <a:ahLst/>
              <a:cxnLst/>
              <a:rect r="r" b="b" t="t" l="l"/>
              <a:pathLst>
                <a:path h="405469" w="3289300">
                  <a:moveTo>
                    <a:pt x="0" y="0"/>
                  </a:moveTo>
                  <a:lnTo>
                    <a:pt x="3289300" y="0"/>
                  </a:lnTo>
                  <a:lnTo>
                    <a:pt x="3289300" y="405469"/>
                  </a:lnTo>
                  <a:lnTo>
                    <a:pt x="0" y="405469"/>
                  </a:lnTo>
                  <a:close/>
                </a:path>
              </a:pathLst>
            </a:custGeom>
            <a:solidFill>
              <a:srgbClr val="F6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89300" cy="443569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Cloud kitchen model = lower investment, and higher flexibility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129388" y="8163104"/>
            <a:ext cx="270434" cy="270434"/>
          </a:xfrm>
          <a:custGeom>
            <a:avLst/>
            <a:gdLst/>
            <a:ahLst/>
            <a:cxnLst/>
            <a:rect r="r" b="b" t="t" l="l"/>
            <a:pathLst>
              <a:path h="270434" w="270434">
                <a:moveTo>
                  <a:pt x="0" y="0"/>
                </a:moveTo>
                <a:lnTo>
                  <a:pt x="270434" y="0"/>
                </a:lnTo>
                <a:lnTo>
                  <a:pt x="270434" y="270434"/>
                </a:lnTo>
                <a:lnTo>
                  <a:pt x="0" y="270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23102"/>
            <a:ext cx="922909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Recommendations;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1526" y="1374356"/>
            <a:ext cx="41443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will succeed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692" y="1879054"/>
            <a:ext cx="11515573" cy="6314578"/>
          </a:xfrm>
          <a:custGeom>
            <a:avLst/>
            <a:gdLst/>
            <a:ahLst/>
            <a:cxnLst/>
            <a:rect r="r" b="b" t="t" l="l"/>
            <a:pathLst>
              <a:path h="6314578" w="11515573">
                <a:moveTo>
                  <a:pt x="0" y="0"/>
                </a:moveTo>
                <a:lnTo>
                  <a:pt x="11515574" y="0"/>
                </a:lnTo>
                <a:lnTo>
                  <a:pt x="11515574" y="6314578"/>
                </a:lnTo>
                <a:lnTo>
                  <a:pt x="0" y="631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8" r="0" b="-94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17185" y="8397035"/>
            <a:ext cx="2585345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DAG2ruath-8</dc:identifier>
  <dcterms:modified xsi:type="dcterms:W3CDTF">2011-08-01T06:04:30Z</dcterms:modified>
  <cp:revision>1</cp:revision>
  <dc:title>Cloud Kitchen Opportunity Analysis</dc:title>
</cp:coreProperties>
</file>